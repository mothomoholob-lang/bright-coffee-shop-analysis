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91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766560" y="0"/>
            <a:ext cx="155448" cy="6858000"/>
          </a:xfrm>
          <a:prstGeom prst="rect">
            <a:avLst/>
          </a:prstGeom>
          <a:solidFill>
            <a:srgbClr val="EE8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58368" y="658368"/>
            <a:ext cx="2011680" cy="82296"/>
          </a:xfrm>
          <a:prstGeom prst="rect">
            <a:avLst/>
          </a:prstGeom>
          <a:solidFill>
            <a:srgbClr val="EE8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024128"/>
            <a:ext cx="4572000" cy="36576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B7D7C8"/>
                </a:solidFill>
                <a:latin typeface="Aptos"/>
              </a:defRPr>
            </a:pPr>
            <a:r>
              <a:t>PORTFOLIO /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47088"/>
            <a:ext cx="6400800" cy="301752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4900" b="1">
                <a:solidFill>
                  <a:srgbClr val="FFFFFF"/>
                </a:solidFill>
                <a:latin typeface="Aptos"/>
              </a:defRPr>
            </a:pPr>
            <a:r>
              <a:t>BREWING</a:t>
            </a:r>
          </a:p>
          <a:p>
            <a:pPr>
              <a:spcAft>
                <a:spcPts val="800"/>
              </a:spcAft>
              <a:defRPr sz="4900" b="1">
                <a:solidFill>
                  <a:srgbClr val="FFFFFF"/>
                </a:solidFill>
                <a:latin typeface="Aptos"/>
              </a:defRPr>
            </a:pPr>
            <a:r>
              <a:t>BUSINESS</a:t>
            </a:r>
          </a:p>
          <a:p>
            <a:pPr>
              <a:spcAft>
                <a:spcPts val="800"/>
              </a:spcAft>
              <a:defRPr sz="4900" b="1">
                <a:solidFill>
                  <a:srgbClr val="FFFFFF"/>
                </a:solidFill>
                <a:latin typeface="Aptos"/>
              </a:defRPr>
            </a:pPr>
            <a:r>
              <a:t>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212080"/>
            <a:ext cx="5760720" cy="50292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B7D7C8"/>
                </a:solidFill>
                <a:latin typeface="Aptos"/>
              </a:defRPr>
            </a:pPr>
            <a:r>
              <a:t>Bright Coffee Shop  •  Sales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217920"/>
            <a:ext cx="5486400" cy="36576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BRIDGET MOTHOMOHOLO</a:t>
            </a:r>
          </a:p>
        </p:txBody>
      </p:sp>
      <p:pic>
        <p:nvPicPr>
          <p:cNvPr id="10" name="Picture 9" descr="coffee_photo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0"/>
            <a:ext cx="528523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EE8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4572000" cy="32004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23F48"/>
                </a:solidFill>
                <a:latin typeface="Aptos"/>
              </a:defRPr>
            </a:pPr>
            <a:r>
              <a:t>BRIGHT  /  COFFEE 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365760"/>
            <a:ext cx="2377440" cy="27432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EE846B"/>
                </a:solidFill>
                <a:latin typeface="Aptos"/>
              </a:defRPr>
            </a:pPr>
            <a:r>
              <a:t>THE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789920" cy="68580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3300" b="1">
                <a:solidFill>
                  <a:srgbClr val="123F48"/>
                </a:solidFill>
                <a:latin typeface="Aptos"/>
              </a:defRPr>
            </a:pPr>
            <a:r>
              <a:t>From transactions to decisions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B7D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6537960"/>
            <a:ext cx="8229600" cy="22860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123F48"/>
                </a:solidFill>
                <a:latin typeface="Aptos"/>
              </a:defRPr>
            </a:pPr>
            <a:r>
              <a:t>BRIDGET MOTHOMOHOLO  •  DATA ANALYTICS PORTFOLIO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52760" y="6537960"/>
            <a:ext cx="822960" cy="22860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123F48"/>
                </a:solidFill>
                <a:latin typeface="Aptos"/>
              </a:defRPr>
            </a:pPr>
            <a:r>
              <a:t>02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6400800" cy="36576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EE846B"/>
                </a:solidFill>
                <a:latin typeface="Aptos"/>
              </a:defRPr>
            </a:pPr>
            <a:r>
              <a:t>THE 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23160"/>
            <a:ext cx="6858000" cy="155448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23F48"/>
                </a:solidFill>
                <a:latin typeface="Aptos"/>
              </a:defRPr>
            </a:pPr>
            <a:r>
              <a:t>How can a coffee shop use everyday sales data to improve performance?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6675120" cy="100584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6343B"/>
                </a:solidFill>
                <a:latin typeface="Aptos"/>
              </a:defRPr>
            </a:pPr>
            <a:r>
              <a:t>This case study turns an Excel sales dataset into clear KPIs, performance comparisons and practical business recommendations.</a:t>
            </a:r>
          </a:p>
        </p:txBody>
      </p:sp>
      <p:pic>
        <p:nvPicPr>
          <p:cNvPr id="14" name="Picture 13" descr="coffee_photo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737360"/>
            <a:ext cx="3401568" cy="43159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EE8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4572000" cy="32004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23F48"/>
                </a:solidFill>
                <a:latin typeface="Aptos"/>
              </a:defRPr>
            </a:pPr>
            <a:r>
              <a:t>BRIGHT  /  COFFEE 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365760"/>
            <a:ext cx="2377440" cy="27432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EE846B"/>
                </a:solidFill>
                <a:latin typeface="Aptos"/>
              </a:defRPr>
            </a:pPr>
            <a: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789920" cy="68580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3300" b="1">
                <a:solidFill>
                  <a:srgbClr val="123F48"/>
                </a:solidFill>
                <a:latin typeface="Aptos"/>
              </a:defRPr>
            </a:pPr>
            <a:r>
              <a:t>The numbers behind the brew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B7D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6537960"/>
            <a:ext cx="8229600" cy="22860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123F48"/>
                </a:solidFill>
                <a:latin typeface="Aptos"/>
              </a:defRPr>
            </a:pPr>
            <a:r>
              <a:t>BRIDGET MOTHOMOHOLO  •  DATA ANALYTICS PORTFOLIO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52760" y="6537960"/>
            <a:ext cx="822960" cy="22860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123F48"/>
                </a:solidFill>
                <a:latin typeface="Aptos"/>
              </a:defRPr>
            </a:pPr>
            <a:r>
              <a:t>03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965960"/>
            <a:ext cx="5257800" cy="1554480"/>
          </a:xfrm>
          <a:prstGeom prst="roundRect">
            <a:avLst/>
          </a:prstGeom>
          <a:solidFill>
            <a:srgbClr val="123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167128"/>
            <a:ext cx="4572000" cy="32004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B7D7C8"/>
                </a:solidFill>
                <a:latin typeface="Aptos"/>
              </a:defRPr>
            </a:pPr>
            <a:r>
              <a:t>TOTAL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24328"/>
            <a:ext cx="4572000" cy="64008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698,812.33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65960"/>
            <a:ext cx="525780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59" y="2167128"/>
            <a:ext cx="4572000" cy="32004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EE846B"/>
                </a:solidFill>
                <a:latin typeface="Aptos"/>
              </a:defRPr>
            </a:pPr>
            <a:r>
              <a:t>TRANSACTIONS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624328"/>
            <a:ext cx="4572000" cy="64008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123F48"/>
                </a:solidFill>
                <a:latin typeface="Aptos"/>
              </a:defRPr>
            </a:pPr>
            <a:r>
              <a:t>149,116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794760"/>
            <a:ext cx="525780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3995928"/>
            <a:ext cx="4572000" cy="32004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EE846B"/>
                </a:solidFill>
                <a:latin typeface="Aptos"/>
              </a:defRPr>
            </a:pPr>
            <a:r>
              <a:t>UNITS SOLD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453128"/>
            <a:ext cx="4572000" cy="64008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123F48"/>
                </a:solidFill>
                <a:latin typeface="Aptos"/>
              </a:defRPr>
            </a:pPr>
            <a:r>
              <a:t>214,470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794760"/>
            <a:ext cx="525780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7959" y="3995928"/>
            <a:ext cx="4572000" cy="32004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EE846B"/>
                </a:solidFill>
                <a:latin typeface="Aptos"/>
              </a:defRPr>
            </a:pPr>
            <a:r>
              <a:t>REVENUE / SALE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4453128"/>
            <a:ext cx="4572000" cy="64008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123F48"/>
                </a:solidFill>
                <a:latin typeface="Aptos"/>
              </a:defRPr>
            </a:pPr>
            <a:r>
              <a:t>4.69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EE8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4572000" cy="32004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23F48"/>
                </a:solidFill>
                <a:latin typeface="Aptos"/>
              </a:defRPr>
            </a:pPr>
            <a:r>
              <a:t>BRIGHT  /  COFFEE 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365760"/>
            <a:ext cx="2377440" cy="27432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EE846B"/>
                </a:solidFill>
                <a:latin typeface="Aptos"/>
              </a:defRPr>
            </a:pPr>
            <a:r>
              <a:t>REVENUE TRENDS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789920" cy="68580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3300" b="1">
                <a:solidFill>
                  <a:srgbClr val="123F48"/>
                </a:solidFill>
                <a:latin typeface="Aptos"/>
              </a:defRPr>
            </a:pPr>
            <a:r>
              <a:t>Revenue grows month by month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B7D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6537960"/>
            <a:ext cx="8229600" cy="22860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123F48"/>
                </a:solidFill>
                <a:latin typeface="Aptos"/>
              </a:defRPr>
            </a:pPr>
            <a:r>
              <a:t>BRIDGET MOTHOMOHOLO  •  DATA ANALYTICS PORTFOLIO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52760" y="6537960"/>
            <a:ext cx="822960" cy="22860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123F48"/>
                </a:solidFill>
                <a:latin typeface="Aptos"/>
              </a:defRPr>
            </a:pPr>
            <a:r>
              <a:t>04 / 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05088" y="1965960"/>
            <a:ext cx="2834640" cy="3429000"/>
          </a:xfrm>
          <a:prstGeom prst="roundRect">
            <a:avLst/>
          </a:prstGeom>
          <a:solidFill>
            <a:srgbClr val="123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06840" y="2313432"/>
            <a:ext cx="2240280" cy="36576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B7D7C8"/>
                </a:solidFill>
                <a:latin typeface="Aptos"/>
              </a:defRPr>
            </a:pPr>
            <a:r>
              <a:t>PEAK MONTH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06840" y="2770632"/>
            <a:ext cx="640080" cy="54864"/>
          </a:xfrm>
          <a:prstGeom prst="rect">
            <a:avLst/>
          </a:prstGeom>
          <a:solidFill>
            <a:srgbClr val="EE8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06840" y="3108960"/>
            <a:ext cx="2240280" cy="182880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June recorded the highest revenue in the period.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394960"/>
            <a:ext cx="192341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chemeClr val="bg2">
                    <a:lumMod val="10000"/>
                  </a:schemeClr>
                </a:solidFill>
              </a:rPr>
              <a:t>Monthly revenue (Jan–Jun)</a:t>
            </a:r>
          </a:p>
        </p:txBody>
      </p:sp>
      <p:pic>
        <p:nvPicPr>
          <p:cNvPr id="18" name="Picture 17" descr="coffee_monthly_ref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157984"/>
            <a:ext cx="7479792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EE8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4572000" cy="32004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23F48"/>
                </a:solidFill>
                <a:latin typeface="Aptos"/>
              </a:defRPr>
            </a:pPr>
            <a:r>
              <a:t>BRIGHT  /  COFFEE 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365760"/>
            <a:ext cx="2377440" cy="27432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EE846B"/>
                </a:solidFill>
                <a:latin typeface="Aptos"/>
              </a:defRPr>
            </a:pPr>
            <a:r>
              <a:t>STORE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789920" cy="68580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3300" b="1">
                <a:solidFill>
                  <a:srgbClr val="123F48"/>
                </a:solidFill>
                <a:latin typeface="Aptos"/>
              </a:defRPr>
            </a:pPr>
            <a:r>
              <a:t>Which store leads sales?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B7D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6537960"/>
            <a:ext cx="8229600" cy="22860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123F48"/>
                </a:solidFill>
                <a:latin typeface="Aptos"/>
              </a:defRPr>
            </a:pPr>
            <a:r>
              <a:t>BRIDGET MOTHOMOHOLO  •  DATA ANALYTICS PORTFOLIO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52760" y="6537960"/>
            <a:ext cx="822960" cy="22860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123F48"/>
                </a:solidFill>
                <a:latin typeface="Aptos"/>
              </a:defRPr>
            </a:pPr>
            <a:r>
              <a:t>05 / 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05088" y="1965960"/>
            <a:ext cx="2834640" cy="3429000"/>
          </a:xfrm>
          <a:prstGeom prst="roundRect">
            <a:avLst/>
          </a:prstGeom>
          <a:solidFill>
            <a:srgbClr val="123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06840" y="2313432"/>
            <a:ext cx="2240280" cy="36576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B7D7C8"/>
                </a:solidFill>
                <a:latin typeface="Aptos"/>
              </a:defRPr>
            </a:pPr>
            <a:r>
              <a:t>TOP LOCATION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06840" y="2770632"/>
            <a:ext cx="640080" cy="54864"/>
          </a:xfrm>
          <a:prstGeom prst="rect">
            <a:avLst/>
          </a:prstGeom>
          <a:solidFill>
            <a:srgbClr val="EE8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06840" y="3108960"/>
            <a:ext cx="2240280" cy="182880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Hell’s Kitchen generated the most revenue.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3" y="5193792"/>
            <a:ext cx="7223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Total revenue by store | Jan–Jun</a:t>
            </a:r>
          </a:p>
        </p:txBody>
      </p:sp>
      <p:pic>
        <p:nvPicPr>
          <p:cNvPr id="18" name="Picture 17" descr="coffee_store_ran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1993392"/>
            <a:ext cx="7479792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EE8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4572000" cy="32004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23F48"/>
                </a:solidFill>
                <a:latin typeface="Aptos"/>
              </a:defRPr>
            </a:pPr>
            <a:r>
              <a:t>BRIGHT  /  COFFEE 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365760"/>
            <a:ext cx="2377440" cy="27432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EE846B"/>
                </a:solidFill>
                <a:latin typeface="Aptos"/>
              </a:defRPr>
            </a:pPr>
            <a:r>
              <a:t>PRODUCT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789920" cy="68580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3300" b="1">
                <a:solidFill>
                  <a:srgbClr val="123F48"/>
                </a:solidFill>
                <a:latin typeface="Aptos"/>
              </a:defRPr>
            </a:pPr>
            <a:r>
              <a:t>What customers are buying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B7D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6537960"/>
            <a:ext cx="8229600" cy="22860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123F48"/>
                </a:solidFill>
                <a:latin typeface="Aptos"/>
              </a:defRPr>
            </a:pPr>
            <a:r>
              <a:t>BRIDGET MOTHOMOHOLO  •  DATA ANALYTICS PORTFOLIO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52760" y="6537960"/>
            <a:ext cx="822960" cy="22860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123F48"/>
                </a:solidFill>
                <a:latin typeface="Aptos"/>
              </a:defRPr>
            </a:pPr>
            <a:r>
              <a:t>06 / 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05088" y="1965960"/>
            <a:ext cx="2834640" cy="3429000"/>
          </a:xfrm>
          <a:prstGeom prst="roundRect">
            <a:avLst/>
          </a:prstGeom>
          <a:solidFill>
            <a:srgbClr val="123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06840" y="2313432"/>
            <a:ext cx="2240280" cy="36576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B7D7C8"/>
                </a:solidFill>
                <a:latin typeface="Aptos"/>
              </a:defRPr>
            </a:pPr>
            <a:r>
              <a:t>TOP PRODUCT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06840" y="2770632"/>
            <a:ext cx="640080" cy="54864"/>
          </a:xfrm>
          <a:prstGeom prst="rect">
            <a:avLst/>
          </a:prstGeom>
          <a:solidFill>
            <a:srgbClr val="EE8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06840" y="3108960"/>
            <a:ext cx="2240280" cy="182880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Barista Espresso leads product-type revenue.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157984"/>
            <a:ext cx="7479792" cy="31546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0120" y="5394960"/>
            <a:ext cx="178536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chemeClr val="bg2">
                    <a:lumMod val="10000"/>
                  </a:schemeClr>
                </a:solidFill>
              </a:rPr>
              <a:t>Revenue by product type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EE8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4572000" cy="32004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23F48"/>
                </a:solidFill>
                <a:latin typeface="Aptos"/>
              </a:defRPr>
            </a:pPr>
            <a:r>
              <a:t>BRIGHT  /  COFFEE 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365760"/>
            <a:ext cx="2377440" cy="27432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EE846B"/>
                </a:solidFill>
                <a:latin typeface="Aptos"/>
              </a:defRPr>
            </a:pPr>
            <a:r>
              <a:t>SALES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789920" cy="68580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3300" b="1">
                <a:solidFill>
                  <a:srgbClr val="123F48"/>
                </a:solidFill>
                <a:latin typeface="Aptos"/>
              </a:defRPr>
            </a:pPr>
            <a:r>
              <a:t>When sales are strongest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B7D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6537960"/>
            <a:ext cx="8229600" cy="22860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123F48"/>
                </a:solidFill>
                <a:latin typeface="Aptos"/>
              </a:defRPr>
            </a:pPr>
            <a:r>
              <a:t>BRIDGET MOTHOMOHOLO  •  DATA ANALYTICS PORTFOLIO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52760" y="6537960"/>
            <a:ext cx="822960" cy="22860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123F48"/>
                </a:solidFill>
                <a:latin typeface="Aptos"/>
              </a:defRPr>
            </a:pPr>
            <a:r>
              <a:t>07 / 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05088" y="1965960"/>
            <a:ext cx="2834640" cy="3429000"/>
          </a:xfrm>
          <a:prstGeom prst="roundRect">
            <a:avLst/>
          </a:prstGeom>
          <a:solidFill>
            <a:srgbClr val="123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06840" y="2313432"/>
            <a:ext cx="2240280" cy="36576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B7D7C8"/>
                </a:solidFill>
                <a:latin typeface="Aptos"/>
              </a:defRPr>
            </a:pPr>
            <a:r>
              <a:t>PEAK PERIOD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06840" y="2770632"/>
            <a:ext cx="640080" cy="54864"/>
          </a:xfrm>
          <a:prstGeom prst="rect">
            <a:avLst/>
          </a:prstGeom>
          <a:solidFill>
            <a:srgbClr val="EE8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06840" y="3108960"/>
            <a:ext cx="2240280" cy="182880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Morning is the strongest time-of-day segment.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157984"/>
            <a:ext cx="7479792" cy="31546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0120" y="5394960"/>
            <a:ext cx="168507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chemeClr val="bg2">
                    <a:lumMod val="10000"/>
                  </a:schemeClr>
                </a:solidFill>
              </a:rPr>
              <a:t>Revenue by time of day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EE8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4572000" cy="32004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23F48"/>
                </a:solidFill>
                <a:latin typeface="Aptos"/>
              </a:defRPr>
            </a:pPr>
            <a:r>
              <a:t>BRIGHT  /  COFFEE 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365760"/>
            <a:ext cx="2377440" cy="27432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EE846B"/>
                </a:solidFill>
                <a:latin typeface="Aptos"/>
              </a:defRPr>
            </a:pPr>
            <a:r>
              <a:t>SALES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789920" cy="68580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3300" b="1">
                <a:solidFill>
                  <a:srgbClr val="123F48"/>
                </a:solidFill>
                <a:latin typeface="Aptos"/>
              </a:defRPr>
            </a:pPr>
            <a:r>
              <a:t>Weekdays versus weekends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B7D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6537960"/>
            <a:ext cx="8229600" cy="22860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123F48"/>
                </a:solidFill>
                <a:latin typeface="Aptos"/>
              </a:defRPr>
            </a:pPr>
            <a:r>
              <a:t>BRIDGET MOTHOMOHOLO  •  DATA ANALYTICS PORTFOLIO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52760" y="6537960"/>
            <a:ext cx="822960" cy="22860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123F48"/>
                </a:solidFill>
                <a:latin typeface="Aptos"/>
              </a:defRPr>
            </a:pPr>
            <a:r>
              <a:t>08 / 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05088" y="1965960"/>
            <a:ext cx="2834640" cy="3429000"/>
          </a:xfrm>
          <a:prstGeom prst="roundRect">
            <a:avLst/>
          </a:prstGeom>
          <a:solidFill>
            <a:srgbClr val="123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06840" y="2313432"/>
            <a:ext cx="2240280" cy="36576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B7D7C8"/>
                </a:solidFill>
                <a:latin typeface="Aptos"/>
              </a:defRPr>
            </a:pPr>
            <a:r>
              <a:t>SALES MIX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06840" y="2770632"/>
            <a:ext cx="640080" cy="54864"/>
          </a:xfrm>
          <a:prstGeom prst="rect">
            <a:avLst/>
          </a:prstGeom>
          <a:solidFill>
            <a:srgbClr val="EE8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06840" y="3108960"/>
            <a:ext cx="2240280" cy="182880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FFFFFF"/>
                </a:solidFill>
                <a:latin typeface="Aptos"/>
              </a:defRPr>
            </a:pPr>
            <a:r>
              <a:t>Weekdays account for more total revenue; compare per-day averages for fairness.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157984"/>
            <a:ext cx="7479792" cy="31546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0120" y="5394960"/>
            <a:ext cx="211077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chemeClr val="bg2">
                    <a:lumMod val="10000"/>
                  </a:schemeClr>
                </a:solidFill>
              </a:rPr>
              <a:t>Weekday vs weekend revenue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EE8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4572000" cy="32004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23F48"/>
                </a:solidFill>
                <a:latin typeface="Aptos"/>
              </a:defRPr>
            </a:pPr>
            <a:r>
              <a:t>BRIGHT  /  COFFEE 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365760"/>
            <a:ext cx="2377440" cy="27432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EE846B"/>
                </a:solidFill>
                <a:latin typeface="Aptos"/>
              </a:defRPr>
            </a:pPr>
            <a:r>
              <a:t>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789920" cy="68580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3300" b="1">
                <a:solidFill>
                  <a:srgbClr val="123F48"/>
                </a:solidFill>
                <a:latin typeface="Aptos"/>
              </a:defRPr>
            </a:pPr>
            <a:r>
              <a:t>My analytics workflow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B7D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6537960"/>
            <a:ext cx="8229600" cy="22860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123F48"/>
                </a:solidFill>
                <a:latin typeface="Aptos"/>
              </a:defRPr>
            </a:pPr>
            <a:r>
              <a:t>BRIDGET MOTHOMOHOLO  •  DATA ANALYTICS PORTFOLIO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52760" y="6537960"/>
            <a:ext cx="822960" cy="22860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123F48"/>
                </a:solidFill>
                <a:latin typeface="Aptos"/>
              </a:defRPr>
            </a:pPr>
            <a:r>
              <a:t>09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5303520" cy="16824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786384" cy="1682496"/>
          </a:xfrm>
          <a:prstGeom prst="rect">
            <a:avLst/>
          </a:prstGeom>
          <a:solidFill>
            <a:srgbClr val="123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2331720"/>
            <a:ext cx="640080" cy="50292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B7D7C8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9928" y="2057400"/>
            <a:ext cx="3931920" cy="36576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23F48"/>
                </a:solidFill>
                <a:latin typeface="Aptos"/>
              </a:defRPr>
            </a:pPr>
            <a:r>
              <a:t>INSPECT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9928" y="2542032"/>
            <a:ext cx="3886200" cy="77724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6343B"/>
                </a:solidFill>
                <a:latin typeface="Aptos"/>
              </a:defRPr>
            </a:pPr>
            <a:r>
              <a:t>Review fields, missing values and data types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828800"/>
            <a:ext cx="5303520" cy="16824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09360" y="1828800"/>
            <a:ext cx="786384" cy="1682496"/>
          </a:xfrm>
          <a:prstGeom prst="rect">
            <a:avLst/>
          </a:prstGeom>
          <a:solidFill>
            <a:srgbClr val="123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28232" y="2331720"/>
            <a:ext cx="640080" cy="50292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B7D7C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3488" y="2057400"/>
            <a:ext cx="3931920" cy="36576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23F48"/>
                </a:solidFill>
                <a:latin typeface="Aptos"/>
              </a:defRPr>
            </a:pPr>
            <a:r>
              <a:t>PREPARE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3488" y="2542032"/>
            <a:ext cx="3886200" cy="77724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6343B"/>
                </a:solidFill>
                <a:latin typeface="Aptos"/>
              </a:defRPr>
            </a:pPr>
            <a:r>
              <a:t>Organise dates, revenue and product dimensions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767328"/>
            <a:ext cx="5303520" cy="16824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5800" y="3767328"/>
            <a:ext cx="786384" cy="1682496"/>
          </a:xfrm>
          <a:prstGeom prst="rect">
            <a:avLst/>
          </a:prstGeom>
          <a:solidFill>
            <a:srgbClr val="123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4672" y="4270248"/>
            <a:ext cx="640080" cy="50292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B7D7C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09928" y="3995928"/>
            <a:ext cx="3931920" cy="36576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23F48"/>
                </a:solidFill>
                <a:latin typeface="Aptos"/>
              </a:defRPr>
            </a:pPr>
            <a:r>
              <a:t>ANALYSE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09928" y="4480560"/>
            <a:ext cx="3886200" cy="77724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6343B"/>
                </a:solidFill>
                <a:latin typeface="Aptos"/>
              </a:defRPr>
            </a:pPr>
            <a:r>
              <a:t>Aggregate KPIs by store, product and period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3767328"/>
            <a:ext cx="5303520" cy="16824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09360" y="3767328"/>
            <a:ext cx="786384" cy="1682496"/>
          </a:xfrm>
          <a:prstGeom prst="rect">
            <a:avLst/>
          </a:prstGeom>
          <a:solidFill>
            <a:srgbClr val="123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28232" y="4270248"/>
            <a:ext cx="640080" cy="50292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B7D7C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33488" y="3995928"/>
            <a:ext cx="3931920" cy="36576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23F48"/>
                </a:solidFill>
                <a:latin typeface="Aptos"/>
              </a:defRPr>
            </a:pPr>
            <a:r>
              <a:t>VISUALISE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3488" y="4480560"/>
            <a:ext cx="3886200" cy="77724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6343B"/>
                </a:solidFill>
                <a:latin typeface="Aptos"/>
              </a:defRPr>
            </a:pPr>
            <a:r>
              <a:t>Build dashboard charts and explain trends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EE8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4572000" cy="32004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23F48"/>
                </a:solidFill>
                <a:latin typeface="Aptos"/>
              </a:defRPr>
            </a:pPr>
            <a:r>
              <a:t>BRIGHT  /  COFFEE 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365760"/>
            <a:ext cx="2377440" cy="27432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EE846B"/>
                </a:solidFill>
                <a:latin typeface="Aptos"/>
              </a:defRPr>
            </a:pPr>
            <a:r>
              <a:t>BUSINESS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789920" cy="68580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3300" b="1">
                <a:solidFill>
                  <a:srgbClr val="123F48"/>
                </a:solidFill>
                <a:latin typeface="Aptos"/>
              </a:defRPr>
            </a:pPr>
            <a:r>
              <a:t>From insights to action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B7D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6537960"/>
            <a:ext cx="8229600" cy="22860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123F48"/>
                </a:solidFill>
                <a:latin typeface="Aptos"/>
              </a:defRPr>
            </a:pPr>
            <a:r>
              <a:t>BRIDGET MOTHOMOHOLO  •  DATA ANALYTICS PORTFOLIO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52760" y="6537960"/>
            <a:ext cx="822960" cy="22860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123F48"/>
                </a:solidFill>
                <a:latin typeface="Aptos"/>
              </a:defRPr>
            </a:pPr>
            <a:r>
              <a:t>10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847088"/>
            <a:ext cx="10744200" cy="11155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1847088"/>
            <a:ext cx="100584" cy="1115568"/>
          </a:xfrm>
          <a:prstGeom prst="rect">
            <a:avLst/>
          </a:prstGeom>
          <a:solidFill>
            <a:srgbClr val="EE8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78992" y="2002536"/>
            <a:ext cx="2926080" cy="45720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23F48"/>
                </a:solidFill>
                <a:latin typeface="Aptos"/>
              </a:defRPr>
            </a:pPr>
            <a:r>
              <a:t>01 / INVENTORY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011680"/>
            <a:ext cx="7040880" cy="77724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6343B"/>
                </a:solidFill>
                <a:latin typeface="Aptos"/>
              </a:defRPr>
            </a:pPr>
            <a:r>
              <a:t>Prioritise stock planning around best-selling products and monthly peaks.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18688"/>
            <a:ext cx="10744200" cy="11155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3218688"/>
            <a:ext cx="100584" cy="1115568"/>
          </a:xfrm>
          <a:prstGeom prst="rect">
            <a:avLst/>
          </a:prstGeom>
          <a:solidFill>
            <a:srgbClr val="EE8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78992" y="3374136"/>
            <a:ext cx="2926080" cy="45720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23F48"/>
                </a:solidFill>
                <a:latin typeface="Aptos"/>
              </a:defRPr>
            </a:pPr>
            <a:r>
              <a:t>02 / STAFFING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383280"/>
            <a:ext cx="7040880" cy="77724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6343B"/>
                </a:solidFill>
                <a:latin typeface="Aptos"/>
              </a:defRPr>
            </a:pPr>
            <a:r>
              <a:t>Align shift coverage and preparation with high-demand time periods.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590288"/>
            <a:ext cx="10744200" cy="11155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4590288"/>
            <a:ext cx="100584" cy="1115568"/>
          </a:xfrm>
          <a:prstGeom prst="rect">
            <a:avLst/>
          </a:prstGeom>
          <a:solidFill>
            <a:srgbClr val="EE8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78992" y="4745736"/>
            <a:ext cx="2926080" cy="45720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23F48"/>
                </a:solidFill>
                <a:latin typeface="Aptos"/>
              </a:defRPr>
            </a:pPr>
            <a:r>
              <a:t>03 / LOCATION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4754879"/>
            <a:ext cx="7040880" cy="77724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6343B"/>
                </a:solidFill>
                <a:latin typeface="Aptos"/>
              </a:defRPr>
            </a:pPr>
            <a:r>
              <a:t>Study what works at the top store and test improvements elsewhere.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EE8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4572000" cy="32004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23F48"/>
                </a:solidFill>
                <a:latin typeface="Aptos"/>
              </a:defRPr>
            </a:pPr>
            <a:r>
              <a:t>BRIGHT  /  COFFEE 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365760"/>
            <a:ext cx="2377440" cy="27432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EE846B"/>
                </a:solidFill>
                <a:latin typeface="Aptos"/>
              </a:defRPr>
            </a:pPr>
            <a:r>
              <a:t>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789920" cy="68580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3300" b="1">
                <a:solidFill>
                  <a:srgbClr val="123F48"/>
                </a:solidFill>
                <a:latin typeface="Aptos"/>
              </a:defRPr>
            </a:pPr>
            <a:r>
              <a:t>Skills demonstrated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B7D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6537960"/>
            <a:ext cx="8229600" cy="22860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123F48"/>
                </a:solidFill>
                <a:latin typeface="Aptos"/>
              </a:defRPr>
            </a:pPr>
            <a:r>
              <a:t>BRIDGET MOTHOMOHOLO  •  DATA ANALYTICS PORTFOLIO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52760" y="6537960"/>
            <a:ext cx="822960" cy="22860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123F48"/>
                </a:solidFill>
                <a:latin typeface="Aptos"/>
              </a:defRPr>
            </a:pPr>
            <a:r>
              <a:t>11 / 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" y="1874519"/>
            <a:ext cx="100584" cy="475488"/>
          </a:xfrm>
          <a:prstGeom prst="rect">
            <a:avLst/>
          </a:prstGeom>
          <a:solidFill>
            <a:srgbClr val="EE8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0704" y="1874519"/>
            <a:ext cx="6675120" cy="521207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23F48"/>
                </a:solidFill>
                <a:latin typeface="Aptos"/>
              </a:defRPr>
            </a:pPr>
            <a:r>
              <a:t>Excel dashboard development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2624327"/>
            <a:ext cx="100584" cy="475488"/>
          </a:xfrm>
          <a:prstGeom prst="rect">
            <a:avLst/>
          </a:prstGeom>
          <a:solidFill>
            <a:srgbClr val="EE8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60704" y="2624327"/>
            <a:ext cx="6675120" cy="521207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23F48"/>
                </a:solidFill>
                <a:latin typeface="Aptos"/>
              </a:defRPr>
            </a:pPr>
            <a:r>
              <a:t>Data inspection and preparation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3374135"/>
            <a:ext cx="100584" cy="475488"/>
          </a:xfrm>
          <a:prstGeom prst="rect">
            <a:avLst/>
          </a:prstGeom>
          <a:solidFill>
            <a:srgbClr val="EE8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60704" y="3374135"/>
            <a:ext cx="6675120" cy="521207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23F48"/>
                </a:solidFill>
                <a:latin typeface="Aptos"/>
              </a:defRPr>
            </a:pPr>
            <a:r>
              <a:t>KPI design and reporting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4123944"/>
            <a:ext cx="100584" cy="475488"/>
          </a:xfrm>
          <a:prstGeom prst="rect">
            <a:avLst/>
          </a:prstGeom>
          <a:solidFill>
            <a:srgbClr val="EE8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60704" y="4123944"/>
            <a:ext cx="6675120" cy="521207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23F48"/>
                </a:solidFill>
                <a:latin typeface="Aptos"/>
              </a:defRPr>
            </a:pPr>
            <a:r>
              <a:t>Sales trend analysis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4873752"/>
            <a:ext cx="100584" cy="475488"/>
          </a:xfrm>
          <a:prstGeom prst="rect">
            <a:avLst/>
          </a:prstGeom>
          <a:solidFill>
            <a:srgbClr val="EE8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60704" y="4873752"/>
            <a:ext cx="6675120" cy="521207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23F48"/>
                </a:solidFill>
                <a:latin typeface="Aptos"/>
              </a:defRPr>
            </a:pPr>
            <a:r>
              <a:t>Business storytelling &amp; recommendations</a:t>
            </a:r>
          </a:p>
        </p:txBody>
      </p:sp>
      <p:pic>
        <p:nvPicPr>
          <p:cNvPr id="21" name="Picture 20" descr="coffee_photo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810512"/>
            <a:ext cx="3410712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0" y="0"/>
            <a:ext cx="137160" cy="6858000"/>
          </a:xfrm>
          <a:prstGeom prst="rect">
            <a:avLst/>
          </a:prstGeom>
          <a:solidFill>
            <a:srgbClr val="EE8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760720" y="1691640"/>
            <a:ext cx="5760720" cy="100584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46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97296" y="2971800"/>
            <a:ext cx="5669280" cy="141732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2500" b="0">
                <a:solidFill>
                  <a:srgbClr val="B7D7C8"/>
                </a:solidFill>
                <a:latin typeface="Aptos"/>
              </a:defRPr>
            </a:pPr>
            <a:r>
              <a:t>Turning raw sales data into</a:t>
            </a:r>
          </a:p>
          <a:p>
            <a:pPr>
              <a:spcAft>
                <a:spcPts val="800"/>
              </a:spcAft>
              <a:defRPr sz="2500" b="0">
                <a:solidFill>
                  <a:srgbClr val="B7D7C8"/>
                </a:solidFill>
                <a:latin typeface="Aptos"/>
              </a:defRPr>
            </a:pPr>
            <a:r>
              <a:t>clearer business decisions.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806440" y="4882896"/>
            <a:ext cx="1005840" cy="64008"/>
          </a:xfrm>
          <a:prstGeom prst="rect">
            <a:avLst/>
          </a:prstGeom>
          <a:solidFill>
            <a:srgbClr val="EE8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06440" y="5257800"/>
            <a:ext cx="5486400" cy="82296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BRIDGET MOTHOMOHOLO</a:t>
            </a:r>
          </a:p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DATA ANALYTICS PORTFOLIO</a:t>
            </a:r>
          </a:p>
        </p:txBody>
      </p:sp>
      <p:pic>
        <p:nvPicPr>
          <p:cNvPr id="9" name="Picture 8" descr="coffee_photo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029200" cy="685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309360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5E1BE"/>
                </a:solidFill>
              </a:rPr>
              <a:t>Visualisations based on the Bright Coffee Shop Excel sales dataset.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450</Words>
  <Application>Microsoft Office PowerPoint</Application>
  <PresentationFormat>Widescreen</PresentationFormat>
  <Paragraphs>111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Bridget Mothomoholo</cp:lastModifiedBy>
  <cp:revision>2</cp:revision>
  <dcterms:created xsi:type="dcterms:W3CDTF">2013-01-27T09:14:16Z</dcterms:created>
  <dcterms:modified xsi:type="dcterms:W3CDTF">2026-10-11T18:23:07Z</dcterms:modified>
  <cp:category/>
</cp:coreProperties>
</file>